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7772400" y="0"/>
            <a:ext cx="4419295" cy="6858000"/>
          </a:xfrm>
          <a:prstGeom prst="rtTriangl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rot="10800000">
            <a:off x="9601200" y="0"/>
            <a:ext cx="2590495" cy="6858000"/>
          </a:xfrm>
          <a:prstGeom prst="rtTriangle">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731520"/>
            <a:ext cx="3108960" cy="38404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6F4EF"/>
                </a:solidFill>
                <a:latin typeface="Arial Black"/>
              </a:defRPr>
            </a:pPr>
            <a:r>
              <a:t>PORTOFOLIO BISNIS DIGITAL</a:t>
            </a:r>
          </a:p>
        </p:txBody>
      </p:sp>
      <p:sp>
        <p:nvSpPr>
          <p:cNvPr id="6" name="TextBox 5"/>
          <p:cNvSpPr txBox="1"/>
          <p:nvPr/>
        </p:nvSpPr>
        <p:spPr>
          <a:xfrm>
            <a:off x="685800" y="1280160"/>
            <a:ext cx="7772400" cy="1645920"/>
          </a:xfrm>
          <a:prstGeom prst="rect">
            <a:avLst/>
          </a:prstGeom>
          <a:noFill/>
        </p:spPr>
        <p:txBody>
          <a:bodyPr wrap="square">
            <a:spAutoFit/>
          </a:bodyPr>
          <a:lstStyle/>
          <a:p>
            <a:pPr>
              <a:defRPr sz="5000" b="1">
                <a:solidFill>
                  <a:srgbClr val="F6F4EF"/>
                </a:solidFill>
                <a:latin typeface="Arial Black"/>
              </a:defRPr>
            </a:pPr>
            <a:r>
              <a:t>SANZ GOKU</a:t>
            </a:r>
          </a:p>
        </p:txBody>
      </p:sp>
      <p:sp>
        <p:nvSpPr>
          <p:cNvPr id="7" name="Rectangle 6"/>
          <p:cNvSpPr/>
          <p:nvPr/>
        </p:nvSpPr>
        <p:spPr>
          <a:xfrm>
            <a:off x="731520" y="2926080"/>
            <a:ext cx="5303520" cy="502920"/>
          </a:xfrm>
          <a:prstGeom prst="rect">
            <a:avLst/>
          </a:prstGeom>
          <a:solidFill>
            <a:srgbClr val="1A1A20"/>
          </a:solidFill>
          <a:ln w="19050">
            <a:solidFill>
              <a:srgbClr val="F1E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1E05A"/>
                </a:solidFill>
                <a:latin typeface="Arial Black"/>
              </a:defRPr>
            </a:pPr>
            <a:r>
              <a:t>« Satu Bot, Banyak Solusi »</a:t>
            </a:r>
          </a:p>
        </p:txBody>
      </p:sp>
      <p:sp>
        <p:nvSpPr>
          <p:cNvPr id="8" name="TextBox 7"/>
          <p:cNvSpPr txBox="1"/>
          <p:nvPr/>
        </p:nvSpPr>
        <p:spPr>
          <a:xfrm>
            <a:off x="685800" y="3611880"/>
            <a:ext cx="6858000" cy="1097280"/>
          </a:xfrm>
          <a:prstGeom prst="rect">
            <a:avLst/>
          </a:prstGeom>
          <a:noFill/>
        </p:spPr>
        <p:txBody>
          <a:bodyPr wrap="square">
            <a:spAutoFit/>
          </a:bodyPr>
          <a:lstStyle/>
          <a:p>
            <a:pPr>
              <a:defRPr sz="1300">
                <a:solidFill>
                  <a:srgbClr val="F6F4EF"/>
                </a:solidFill>
                <a:latin typeface="Arial"/>
              </a:defRPr>
            </a:pPr>
            <a:r>
              <a:t>Penyedia produk &amp; layanan digital, infrastruktur server Linux, panel Pterodactyl, nomor virtual OTP, serta solusi otomatisasi transaksi berbasis bot Telegram (@Sanzstrnokosmumerbot).</a:t>
            </a:r>
          </a:p>
        </p:txBody>
      </p:sp>
      <p:sp>
        <p:nvSpPr>
          <p:cNvPr id="9" name="Rectangle 8"/>
          <p:cNvSpPr/>
          <p:nvPr/>
        </p:nvSpPr>
        <p:spPr>
          <a:xfrm>
            <a:off x="731520" y="4846320"/>
            <a:ext cx="6583680" cy="1280160"/>
          </a:xfrm>
          <a:prstGeom prst="rect">
            <a:avLst/>
          </a:prstGeom>
          <a:solidFill>
            <a:srgbClr val="1A1A20"/>
          </a:solidFill>
          <a:ln w="254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a:solidFill>
                  <a:srgbClr val="F1E05A"/>
                </a:solidFill>
                <a:latin typeface="Arial Black"/>
              </a:defRPr>
            </a:pPr>
            <a:r>
              <a:t>DISUSUN OLEH:</a:t>
            </a:r>
          </a:p>
          <a:p>
            <a:pPr>
              <a:defRPr sz="1500" b="1">
                <a:solidFill>
                  <a:srgbClr val="F6F4EF"/>
                </a:solidFill>
                <a:latin typeface="Arial Black"/>
              </a:defRPr>
            </a:pPr>
            <a:r>
              <a:t>Muhammad Sandika Akbar  (Sanz)</a:t>
            </a:r>
          </a:p>
          <a:p>
            <a:pPr>
              <a:defRPr sz="1100">
                <a:solidFill>
                  <a:srgbClr val="AAAAB4"/>
                </a:solidFill>
                <a:latin typeface="Arial"/>
              </a:defRPr>
            </a:pPr>
            <a:r>
              <a:t>Domain: snz.my.id  ·  Bot: @Sanzstrnokosmumerbot  ·  Admin: @Sanzxgoku</a:t>
            </a:r>
          </a:p>
        </p:txBody>
      </p:sp>
      <p:sp>
        <p:nvSpPr>
          <p:cNvPr id="10" name="TextBox 9"/>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snz.my.id                           SLIDE 01 / 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02 // IDENTITAS &amp; NILAI</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PROFIL SANZ GOKU</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651760" cy="4526280"/>
          </a:xfrm>
          <a:prstGeom prst="rect">
            <a:avLst/>
          </a:prstGeom>
          <a:solidFill>
            <a:srgbClr val="F6F4EF"/>
          </a:solidFill>
          <a:ln w="254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lIns="137160" rIns="137160" tIns="2651760"/>
          <a:lstStyle/>
          <a:p>
            <a:pPr algn="ctr">
              <a:defRPr sz="1000" b="1">
                <a:solidFill>
                  <a:srgbClr val="111111"/>
                </a:solidFill>
                <a:latin typeface="Arial Black"/>
              </a:defRPr>
            </a:pPr>
            <a:r>
              <a:t>MUHAMMAD SANDIKA AKBAR</a:t>
            </a:r>
          </a:p>
          <a:p>
            <a:pPr>
              <a:spcBef>
                <a:spcPts val="400"/>
              </a:spcBef>
              <a:defRPr sz="950">
                <a:solidFill>
                  <a:srgbClr val="3C3C3C"/>
                </a:solidFill>
                <a:latin typeface="Arial"/>
              </a:defRPr>
            </a:pPr>
            <a:r>
              <a:t>Founder / Owner (Sanz)</a:t>
            </a:r>
            <a:br/>
            <a:r>
              <a:t>Domain: snz.my.id</a:t>
            </a:r>
            <a:br/>
            <a:r>
              <a:t>Bot: @Sanzstrnokosmumerbot</a:t>
            </a:r>
            <a:br/>
            <a:r>
              <a:t>Admin: @Sanzxgoku</a:t>
            </a:r>
          </a:p>
        </p:txBody>
      </p:sp>
      <p:pic>
        <p:nvPicPr>
          <p:cNvPr id="8" name="Picture 7" descr="me.jpg"/>
          <p:cNvPicPr>
            <a:picLocks noChangeAspect="1"/>
          </p:cNvPicPr>
          <p:nvPr/>
        </p:nvPicPr>
        <p:blipFill>
          <a:blip r:embed="rId2"/>
          <a:stretch>
            <a:fillRect/>
          </a:stretch>
        </p:blipFill>
        <p:spPr>
          <a:xfrm>
            <a:off x="868680" y="1783080"/>
            <a:ext cx="2377440" cy="2377440"/>
          </a:xfrm>
          <a:prstGeom prst="rect">
            <a:avLst/>
          </a:prstGeom>
        </p:spPr>
      </p:pic>
      <p:sp>
        <p:nvSpPr>
          <p:cNvPr id="9" name="Rectangle 8"/>
          <p:cNvSpPr/>
          <p:nvPr/>
        </p:nvSpPr>
        <p:spPr>
          <a:xfrm>
            <a:off x="3566160" y="1645920"/>
            <a:ext cx="7894015" cy="1188720"/>
          </a:xfrm>
          <a:prstGeom prst="rect">
            <a:avLst/>
          </a:prstGeom>
          <a:solidFill>
            <a:srgbClr val="1A1A20"/>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100">
                <a:solidFill>
                  <a:srgbClr val="F1E05A"/>
                </a:solidFill>
                <a:latin typeface="Arial Black"/>
              </a:defRPr>
            </a:pPr>
            <a:r>
              <a:t>RINGKASAN EKSEKUTIF</a:t>
            </a:r>
          </a:p>
          <a:p>
            <a:pPr>
              <a:defRPr sz="1100">
                <a:solidFill>
                  <a:srgbClr val="F6F4EF"/>
                </a:solidFill>
                <a:latin typeface="Arial"/>
              </a:defRPr>
            </a:pPr>
            <a:r>
              <a:t>SANZ GOKU adalah usaha digital aktif yang berfokus pada penyediaan produk &amp; layanan digital, layanan server, serta solusi teknologi praktis. Usaha ini hadir untuk menjawab kebutuhan pelanggan akan infrastruktur hosting stabil, nomor virtual OTP cepat via bot Telegram, dan alur transaksi yang jelas serta transparan.</a:t>
            </a:r>
          </a:p>
        </p:txBody>
      </p:sp>
      <p:sp>
        <p:nvSpPr>
          <p:cNvPr id="10" name="Rectangle 9"/>
          <p:cNvSpPr/>
          <p:nvPr/>
        </p:nvSpPr>
        <p:spPr>
          <a:xfrm>
            <a:off x="3566160" y="3017520"/>
            <a:ext cx="3870655" cy="1536192"/>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E60012"/>
                </a:solidFill>
                <a:latin typeface="Arial Black"/>
              </a:defRPr>
            </a:pPr>
            <a:r>
              <a:t>■  BIDANG USAHA</a:t>
            </a:r>
          </a:p>
          <a:p>
            <a:pPr>
              <a:defRPr sz="950">
                <a:solidFill>
                  <a:srgbClr val="F6F4EF"/>
                </a:solidFill>
                <a:latin typeface="Arial"/>
              </a:defRPr>
            </a:pPr>
            <a:r>
              <a:t>• Penjualan &amp; konfigurasi VPS Linux.</a:t>
            </a:r>
          </a:p>
          <a:p>
            <a:pPr>
              <a:defRPr sz="950">
                <a:solidFill>
                  <a:srgbClr val="F6F4EF"/>
                </a:solidFill>
                <a:latin typeface="Arial"/>
              </a:defRPr>
            </a:pPr>
            <a:r>
              <a:t>• Instalasi panel Pterodactyl &amp; hosting.</a:t>
            </a:r>
          </a:p>
          <a:p>
            <a:pPr>
              <a:defRPr sz="950">
                <a:solidFill>
                  <a:srgbClr val="F6F4EF"/>
                </a:solidFill>
                <a:latin typeface="Arial"/>
              </a:defRPr>
            </a:pPr>
            <a:r>
              <a:t>• Layanan nomor virtual OTP (RumahOTP).</a:t>
            </a:r>
          </a:p>
          <a:p>
            <a:pPr>
              <a:defRPr sz="950">
                <a:solidFill>
                  <a:srgbClr val="F6F4EF"/>
                </a:solidFill>
                <a:latin typeface="Arial"/>
              </a:defRPr>
            </a:pPr>
            <a:r>
              <a:t>• Script, subdomain, dan produk digital.</a:t>
            </a:r>
          </a:p>
        </p:txBody>
      </p:sp>
      <p:sp>
        <p:nvSpPr>
          <p:cNvPr id="11" name="Rectangle 10"/>
          <p:cNvSpPr/>
          <p:nvPr/>
        </p:nvSpPr>
        <p:spPr>
          <a:xfrm>
            <a:off x="7589520" y="3017520"/>
            <a:ext cx="3870655" cy="1536192"/>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E60012"/>
                </a:solidFill>
                <a:latin typeface="Arial Black"/>
              </a:defRPr>
            </a:pPr>
            <a:r>
              <a:t>■  KEBUTUHAN PELANGGAN</a:t>
            </a:r>
          </a:p>
          <a:p>
            <a:pPr>
              <a:defRPr sz="950">
                <a:solidFill>
                  <a:srgbClr val="F6F4EF"/>
                </a:solidFill>
                <a:latin typeface="Arial"/>
              </a:defRPr>
            </a:pPr>
            <a:r>
              <a:t>• Infrastruktur server fleksibel &amp; stabil.</a:t>
            </a:r>
          </a:p>
          <a:p>
            <a:pPr>
              <a:defRPr sz="950">
                <a:solidFill>
                  <a:srgbClr val="F6F4EF"/>
                </a:solidFill>
                <a:latin typeface="Arial"/>
              </a:defRPr>
            </a:pPr>
            <a:r>
              <a:t>• Verifikasi akun instan tanpa nomor pribadi.</a:t>
            </a:r>
          </a:p>
          <a:p>
            <a:pPr>
              <a:defRPr sz="950">
                <a:solidFill>
                  <a:srgbClr val="F6F4EF"/>
                </a:solidFill>
                <a:latin typeface="Arial"/>
              </a:defRPr>
            </a:pPr>
            <a:r>
              <a:t>• Kebutuhan tools &amp; script digital praktis.</a:t>
            </a:r>
          </a:p>
          <a:p>
            <a:pPr>
              <a:defRPr sz="950">
                <a:solidFill>
                  <a:srgbClr val="F6F4EF"/>
                </a:solidFill>
                <a:latin typeface="Arial"/>
              </a:defRPr>
            </a:pPr>
            <a:r>
              <a:t>• Pemesanan responsif dibantu admin.</a:t>
            </a:r>
          </a:p>
        </p:txBody>
      </p:sp>
      <p:sp>
        <p:nvSpPr>
          <p:cNvPr id="12" name="Rectangle 11"/>
          <p:cNvSpPr/>
          <p:nvPr/>
        </p:nvSpPr>
        <p:spPr>
          <a:xfrm>
            <a:off x="3566160" y="4709160"/>
            <a:ext cx="3870655" cy="1536192"/>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E60012"/>
                </a:solidFill>
                <a:latin typeface="Arial Black"/>
              </a:defRPr>
            </a:pPr>
            <a:r>
              <a:t>■  TUJUAN PENDIRIAN</a:t>
            </a:r>
          </a:p>
          <a:p>
            <a:pPr>
              <a:defRPr sz="950">
                <a:solidFill>
                  <a:srgbClr val="F6F4EF"/>
                </a:solidFill>
                <a:latin typeface="Arial"/>
              </a:defRPr>
            </a:pPr>
            <a:r>
              <a:t>• Solusi teknologi terjangkau &amp; mudah diakses.</a:t>
            </a:r>
          </a:p>
          <a:p>
            <a:pPr>
              <a:defRPr sz="950">
                <a:solidFill>
                  <a:srgbClr val="F6F4EF"/>
                </a:solidFill>
                <a:latin typeface="Arial"/>
              </a:defRPr>
            </a:pPr>
            <a:r>
              <a:t>• Ekosistem mandiri berbasis efisiensi server.</a:t>
            </a:r>
          </a:p>
          <a:p>
            <a:pPr>
              <a:defRPr sz="950">
                <a:solidFill>
                  <a:srgbClr val="F6F4EF"/>
                </a:solidFill>
                <a:latin typeface="Arial"/>
              </a:defRPr>
            </a:pPr>
            <a:r>
              <a:t>• Otomatisasi pelayanan pelanggan bertahap.</a:t>
            </a:r>
          </a:p>
          <a:p>
            <a:pPr>
              <a:defRPr sz="950">
                <a:solidFill>
                  <a:srgbClr val="F6F4EF"/>
                </a:solidFill>
                <a:latin typeface="Arial"/>
              </a:defRPr>
            </a:pPr>
            <a:r>
              <a:t>• Penyedia layanan digital yang dapat diandalkan.</a:t>
            </a:r>
          </a:p>
        </p:txBody>
      </p:sp>
      <p:sp>
        <p:nvSpPr>
          <p:cNvPr id="13" name="Rectangle 12"/>
          <p:cNvSpPr/>
          <p:nvPr/>
        </p:nvSpPr>
        <p:spPr>
          <a:xfrm>
            <a:off x="7589520" y="4709160"/>
            <a:ext cx="3870655" cy="1536192"/>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E60012"/>
                </a:solidFill>
                <a:latin typeface="Arial Black"/>
              </a:defRPr>
            </a:pPr>
            <a:r>
              <a:t>■  NILAI UTAMA BISNIS</a:t>
            </a:r>
          </a:p>
          <a:p>
            <a:pPr>
              <a:defRPr sz="950">
                <a:solidFill>
                  <a:srgbClr val="F6F4EF"/>
                </a:solidFill>
                <a:latin typeface="Arial"/>
              </a:defRPr>
            </a:pPr>
            <a:r>
              <a:t>• Transparansi spesifikasi tanpa klaim palsu.</a:t>
            </a:r>
          </a:p>
          <a:p>
            <a:pPr>
              <a:defRPr sz="950">
                <a:solidFill>
                  <a:srgbClr val="F6F4EF"/>
                </a:solidFill>
                <a:latin typeface="Arial"/>
              </a:defRPr>
            </a:pPr>
            <a:r>
              <a:t>• Kecepatan penanganan pesanan via Telegram.</a:t>
            </a:r>
          </a:p>
          <a:p>
            <a:pPr>
              <a:defRPr sz="950">
                <a:solidFill>
                  <a:srgbClr val="F6F4EF"/>
                </a:solidFill>
                <a:latin typeface="Arial"/>
              </a:defRPr>
            </a:pPr>
            <a:r>
              <a:t>• Inovasi bot Telegram (@Sanzstrnokosmumerbot).</a:t>
            </a:r>
          </a:p>
          <a:p>
            <a:pPr>
              <a:defRPr sz="950">
                <a:solidFill>
                  <a:srgbClr val="F6F4EF"/>
                </a:solidFill>
                <a:latin typeface="Arial"/>
              </a:defRPr>
            </a:pPr>
            <a:r>
              <a:t>• Dukungan teknis responsif saat ada kendala.</a:t>
            </a:r>
          </a:p>
        </p:txBody>
      </p:sp>
      <p:sp>
        <p:nvSpPr>
          <p:cNvPr id="14" name="TextBox 13"/>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snz.my.id                           SLIDE 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03 // KATALOG BISNIS</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PRODUK DAN LAYANAN</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728655" cy="384048"/>
          </a:xfrm>
          <a:prstGeom prst="rect">
            <a:avLst/>
          </a:prstGeom>
          <a:solidFill>
            <a:srgbClr val="1A1A20"/>
          </a:solidFill>
          <a:ln w="12700">
            <a:solidFill>
              <a:srgbClr val="F1E05A"/>
            </a:solidFill>
          </a:ln>
        </p:spPr>
        <p:style>
          <a:lnRef idx="1">
            <a:schemeClr val="accent1"/>
          </a:lnRef>
          <a:fillRef idx="3">
            <a:schemeClr val="accent1"/>
          </a:fillRef>
          <a:effectRef idx="2">
            <a:schemeClr val="accent1"/>
          </a:effectRef>
          <a:fontRef idx="minor">
            <a:schemeClr val="lt1"/>
          </a:fontRef>
        </p:style>
        <p:txBody>
          <a:bodyPr rtlCol="0" anchor="ctr" lIns="228600" tIns="73152"/>
          <a:lstStyle/>
          <a:p>
            <a:pPr algn="ctr">
              <a:defRPr sz="1000">
                <a:solidFill>
                  <a:srgbClr val="F1E05A"/>
                </a:solidFill>
                <a:latin typeface="Arial"/>
              </a:defRPr>
            </a:pPr>
            <a:r>
              <a:t>CATATAN STATUS: Layanan dikelompokkan berdasarkan kategori. Membedakan layanan aktif berjualan vs tahap rencana/pengembangan.</a:t>
            </a:r>
          </a:p>
        </p:txBody>
      </p:sp>
      <p:sp>
        <p:nvSpPr>
          <p:cNvPr id="8" name="Rectangle 7"/>
          <p:cNvSpPr/>
          <p:nvPr/>
        </p:nvSpPr>
        <p:spPr>
          <a:xfrm>
            <a:off x="731520" y="2148840"/>
            <a:ext cx="2542032" cy="411480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150" b="1">
                <a:solidFill>
                  <a:srgbClr val="F6F4EF"/>
                </a:solidFill>
                <a:latin typeface="Arial Black"/>
              </a:defRPr>
            </a:pPr>
            <a:r>
              <a:t>VPS &amp; SERVER LINUX</a:t>
            </a:r>
          </a:p>
          <a:p>
            <a:pPr>
              <a:defRPr sz="900" b="1">
                <a:solidFill>
                  <a:srgbClr val="E60012"/>
                </a:solidFill>
                <a:latin typeface="Arial Black"/>
              </a:defRPr>
            </a:pPr>
            <a:r>
              <a:t>[STATUS: AKTIF BERJUALAN]</a:t>
            </a:r>
          </a:p>
          <a:p>
            <a:pPr>
              <a:defRPr sz="400"/>
            </a:pPr>
            <a:r>
              <a:t> </a:t>
            </a:r>
          </a:p>
          <a:p>
            <a:pPr>
              <a:spcAft>
                <a:spcPts val="600"/>
              </a:spcAft>
              <a:defRPr sz="1050">
                <a:solidFill>
                  <a:srgbClr val="F6F4EF"/>
                </a:solidFill>
                <a:latin typeface="Arial"/>
              </a:defRPr>
            </a:pPr>
            <a:r>
              <a:t>• Penjualan VPS Linux (berbagai pilihan spek).</a:t>
            </a:r>
          </a:p>
          <a:p>
            <a:pPr>
              <a:spcAft>
                <a:spcPts val="600"/>
              </a:spcAft>
              <a:defRPr sz="1050">
                <a:solidFill>
                  <a:srgbClr val="F6F4EF"/>
                </a:solidFill>
                <a:latin typeface="Arial"/>
              </a:defRPr>
            </a:pPr>
            <a:r>
              <a:t>• Setup &amp; lisensi/manajemen panel Pterodactyl.</a:t>
            </a:r>
          </a:p>
          <a:p>
            <a:pPr>
              <a:spcAft>
                <a:spcPts val="600"/>
              </a:spcAft>
              <a:defRPr sz="1050">
                <a:solidFill>
                  <a:srgbClr val="F6F4EF"/>
                </a:solidFill>
                <a:latin typeface="Arial"/>
              </a:defRPr>
            </a:pPr>
            <a:r>
              <a:t>• Pengelolaan konfigurasi dasar server Linux.</a:t>
            </a:r>
          </a:p>
          <a:p>
            <a:pPr>
              <a:spcAft>
                <a:spcPts val="600"/>
              </a:spcAft>
              <a:defRPr sz="1050">
                <a:solidFill>
                  <a:srgbClr val="F6F4EF"/>
                </a:solidFill>
                <a:latin typeface="Arial"/>
              </a:defRPr>
            </a:pPr>
            <a:r>
              <a:t>• Hosting server sesuai ketersediaan stok.</a:t>
            </a:r>
          </a:p>
        </p:txBody>
      </p:sp>
      <p:sp>
        <p:nvSpPr>
          <p:cNvPr id="9" name="Rectangle 8"/>
          <p:cNvSpPr/>
          <p:nvPr/>
        </p:nvSpPr>
        <p:spPr>
          <a:xfrm>
            <a:off x="3456432" y="2148840"/>
            <a:ext cx="2542032" cy="411480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150" b="1">
                <a:solidFill>
                  <a:srgbClr val="F6F4EF"/>
                </a:solidFill>
                <a:latin typeface="Arial Black"/>
              </a:defRPr>
            </a:pPr>
            <a:r>
              <a:t>NOKOS &amp; LAYANAN OTP</a:t>
            </a:r>
          </a:p>
          <a:p>
            <a:pPr>
              <a:defRPr sz="900" b="1">
                <a:solidFill>
                  <a:srgbClr val="E60012"/>
                </a:solidFill>
                <a:latin typeface="Arial Black"/>
              </a:defRPr>
            </a:pPr>
            <a:r>
              <a:t>[STATUS: AKTIF BERJUALAN]</a:t>
            </a:r>
          </a:p>
          <a:p>
            <a:pPr>
              <a:defRPr sz="400"/>
            </a:pPr>
            <a:r>
              <a:t> </a:t>
            </a:r>
          </a:p>
          <a:p>
            <a:pPr>
              <a:spcAft>
                <a:spcPts val="600"/>
              </a:spcAft>
              <a:defRPr sz="1050">
                <a:solidFill>
                  <a:srgbClr val="F6F4EF"/>
                </a:solidFill>
                <a:latin typeface="Arial"/>
              </a:defRPr>
            </a:pPr>
            <a:r>
              <a:t>• Nomor virtual verifikasi akun aplikasi digital.</a:t>
            </a:r>
          </a:p>
          <a:p>
            <a:pPr>
              <a:spcAft>
                <a:spcPts val="600"/>
              </a:spcAft>
              <a:defRPr sz="1050">
                <a:solidFill>
                  <a:srgbClr val="F6F4EF"/>
                </a:solidFill>
                <a:latin typeface="Arial"/>
              </a:defRPr>
            </a:pPr>
            <a:r>
              <a:t>• Tersedia melalui Bot @Sanzstrnokosmumerbot.</a:t>
            </a:r>
          </a:p>
          <a:p>
            <a:pPr>
              <a:spcAft>
                <a:spcPts val="600"/>
              </a:spcAft>
              <a:defRPr sz="1050">
                <a:solidFill>
                  <a:srgbClr val="F6F4EF"/>
                </a:solidFill>
                <a:latin typeface="Arial"/>
              </a:defRPr>
            </a:pPr>
            <a:r>
              <a:t>• Integrasi penyedia terpercaya (RumahOTP).</a:t>
            </a:r>
          </a:p>
          <a:p>
            <a:pPr>
              <a:spcAft>
                <a:spcPts val="600"/>
              </a:spcAft>
              <a:defRPr sz="1050">
                <a:solidFill>
                  <a:srgbClr val="F6F4EF"/>
                </a:solidFill>
                <a:latin typeface="Arial"/>
              </a:defRPr>
            </a:pPr>
            <a:r>
              <a:t>• Aktivasi akun aman tanpa nomor pribadi.</a:t>
            </a:r>
          </a:p>
        </p:txBody>
      </p:sp>
      <p:sp>
        <p:nvSpPr>
          <p:cNvPr id="10" name="Rectangle 9"/>
          <p:cNvSpPr/>
          <p:nvPr/>
        </p:nvSpPr>
        <p:spPr>
          <a:xfrm>
            <a:off x="6181344" y="2148840"/>
            <a:ext cx="2542032" cy="411480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150" b="1">
                <a:solidFill>
                  <a:srgbClr val="F6F4EF"/>
                </a:solidFill>
                <a:latin typeface="Arial Black"/>
              </a:defRPr>
            </a:pPr>
            <a:r>
              <a:t>PRODUK DIGITAL &amp; LAINNYA</a:t>
            </a:r>
          </a:p>
          <a:p>
            <a:pPr>
              <a:defRPr sz="900" b="1">
                <a:solidFill>
                  <a:srgbClr val="E60012"/>
                </a:solidFill>
                <a:latin typeface="Arial Black"/>
              </a:defRPr>
            </a:pPr>
            <a:r>
              <a:t>[STATUS: AKTIF / ON-DEMAND]</a:t>
            </a:r>
          </a:p>
          <a:p>
            <a:pPr>
              <a:defRPr sz="400"/>
            </a:pPr>
            <a:r>
              <a:t> </a:t>
            </a:r>
          </a:p>
          <a:p>
            <a:pPr>
              <a:spcAft>
                <a:spcPts val="600"/>
              </a:spcAft>
              <a:defRPr sz="1050">
                <a:solidFill>
                  <a:srgbClr val="F6F4EF"/>
                </a:solidFill>
                <a:latin typeface="Arial"/>
              </a:defRPr>
            </a:pPr>
            <a:r>
              <a:t>• Penjualan script dan produk digital terpilih.</a:t>
            </a:r>
          </a:p>
          <a:p>
            <a:pPr>
              <a:spcAft>
                <a:spcPts val="600"/>
              </a:spcAft>
              <a:defRPr sz="1050">
                <a:solidFill>
                  <a:srgbClr val="F6F4EF"/>
                </a:solidFill>
                <a:latin typeface="Arial"/>
              </a:defRPr>
            </a:pPr>
            <a:r>
              <a:t>• Layanan penyediaan custom subdomain.</a:t>
            </a:r>
          </a:p>
          <a:p>
            <a:pPr>
              <a:spcAft>
                <a:spcPts val="600"/>
              </a:spcAft>
              <a:defRPr sz="1050">
                <a:solidFill>
                  <a:srgbClr val="F6F4EF"/>
                </a:solidFill>
                <a:latin typeface="Arial"/>
              </a:defRPr>
            </a:pPr>
            <a:r>
              <a:t>• Layanan boost media sosial &amp; kebutuhan akun.</a:t>
            </a:r>
          </a:p>
          <a:p>
            <a:pPr>
              <a:spcAft>
                <a:spcPts val="600"/>
              </a:spcAft>
              <a:defRPr sz="1050">
                <a:solidFill>
                  <a:srgbClr val="F6F4EF"/>
                </a:solidFill>
                <a:latin typeface="Arial"/>
              </a:defRPr>
            </a:pPr>
            <a:r>
              <a:t>• Top up saldo dan layanan digital pelengkap.</a:t>
            </a:r>
          </a:p>
        </p:txBody>
      </p:sp>
      <p:sp>
        <p:nvSpPr>
          <p:cNvPr id="11" name="Rectangle 10"/>
          <p:cNvSpPr/>
          <p:nvPr/>
        </p:nvSpPr>
        <p:spPr>
          <a:xfrm>
            <a:off x="8906256" y="2148840"/>
            <a:ext cx="2542032" cy="411480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150" b="1">
                <a:solidFill>
                  <a:srgbClr val="F6F4EF"/>
                </a:solidFill>
                <a:latin typeface="Arial Black"/>
              </a:defRPr>
            </a:pPr>
            <a:r>
              <a:t>BOT TELEGRAM (@Sanzstrnokosmumerbot)</a:t>
            </a:r>
          </a:p>
          <a:p>
            <a:pPr>
              <a:defRPr sz="900" b="1">
                <a:solidFill>
                  <a:srgbClr val="F1E05A"/>
                </a:solidFill>
                <a:latin typeface="Arial Black"/>
              </a:defRPr>
            </a:pPr>
            <a:r>
              <a:t>[STATUS: PENGEMBANGAN FITUR]</a:t>
            </a:r>
          </a:p>
          <a:p>
            <a:pPr>
              <a:defRPr sz="400"/>
            </a:pPr>
            <a:r>
              <a:t> </a:t>
            </a:r>
          </a:p>
          <a:p>
            <a:pPr>
              <a:spcAft>
                <a:spcPts val="600"/>
              </a:spcAft>
              <a:defRPr sz="1050">
                <a:solidFill>
                  <a:srgbClr val="F6F4EF"/>
                </a:solidFill>
                <a:latin typeface="Arial"/>
              </a:defRPr>
            </a:pPr>
            <a:r>
              <a:t>• Katalog interaktif otomatis via Telegram.</a:t>
            </a:r>
          </a:p>
          <a:p>
            <a:pPr>
              <a:spcAft>
                <a:spcPts val="600"/>
              </a:spcAft>
              <a:defRPr sz="1050">
                <a:solidFill>
                  <a:srgbClr val="F6F4EF"/>
                </a:solidFill>
                <a:latin typeface="Arial"/>
              </a:defRPr>
            </a:pPr>
            <a:r>
              <a:t>• Pemeriksaan status transaksi &amp; saldo real-time.</a:t>
            </a:r>
          </a:p>
          <a:p>
            <a:pPr>
              <a:spcAft>
                <a:spcPts val="600"/>
              </a:spcAft>
              <a:defRPr sz="1050">
                <a:solidFill>
                  <a:srgbClr val="F6F4EF"/>
                </a:solidFill>
                <a:latin typeface="Arial"/>
              </a:defRPr>
            </a:pPr>
            <a:r>
              <a:t>• Rencana integrasi payment gateway QRIS.</a:t>
            </a:r>
          </a:p>
          <a:p>
            <a:pPr>
              <a:spcAft>
                <a:spcPts val="600"/>
              </a:spcAft>
              <a:defRPr sz="1050">
                <a:solidFill>
                  <a:srgbClr val="F6F4EF"/>
                </a:solidFill>
                <a:latin typeface="Arial"/>
              </a:defRPr>
            </a:pPr>
            <a:r>
              <a:t>• Mempermudah alur pemesanan secara mandiri.</a:t>
            </a:r>
          </a:p>
        </p:txBody>
      </p:sp>
      <p:sp>
        <p:nvSpPr>
          <p:cNvPr id="12" name="TextBox 11"/>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snz.my.id                           SLIDE 03 / 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04 // ALUR PELAYANAN</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SISTEM OPERASIONAL BISNIS</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10789920" cy="502920"/>
          </a:xfrm>
          <a:prstGeom prst="rect">
            <a:avLst/>
          </a:prstGeom>
          <a:noFill/>
        </p:spPr>
        <p:txBody>
          <a:bodyPr wrap="none">
            <a:spAutoFit/>
          </a:bodyPr>
          <a:lstStyle/>
          <a:p>
            <a:pPr>
              <a:defRPr sz="1200">
                <a:solidFill>
                  <a:srgbClr val="AAAAB4"/>
                </a:solidFill>
                <a:latin typeface="Arial"/>
              </a:defRPr>
            </a:pPr>
            <a:r>
              <a:t>Alur Pelayanan Pelanggan 6 Langkah — Menggabungkan penanganan admin aktif dengan persiapan otomasi bot (@Sanzstrnokosmumerbot).</a:t>
            </a:r>
          </a:p>
        </p:txBody>
      </p:sp>
      <p:sp>
        <p:nvSpPr>
          <p:cNvPr id="8" name="Rectangle 7"/>
          <p:cNvSpPr/>
          <p:nvPr/>
        </p:nvSpPr>
        <p:spPr>
          <a:xfrm>
            <a:off x="731520" y="214884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01</a:t>
            </a:r>
          </a:p>
          <a:p>
            <a:pPr>
              <a:defRPr sz="1200" b="1">
                <a:solidFill>
                  <a:srgbClr val="F6F4EF"/>
                </a:solidFill>
                <a:latin typeface="Arial Black"/>
              </a:defRPr>
            </a:pPr>
            <a:r>
              <a:t>KATALOG &amp; INFO</a:t>
            </a:r>
          </a:p>
          <a:p>
            <a:pPr>
              <a:defRPr sz="1050">
                <a:solidFill>
                  <a:srgbClr val="AAAAB4"/>
                </a:solidFill>
                <a:latin typeface="Arial"/>
              </a:defRPr>
            </a:pPr>
            <a:r>
              <a:t>Pelanggan melihat daftar layanan, deskripsi, dan ketersediaan stok melalui kanal resmi atau bot Telegram.</a:t>
            </a:r>
          </a:p>
        </p:txBody>
      </p:sp>
      <p:sp>
        <p:nvSpPr>
          <p:cNvPr id="9" name="Rectangle 8"/>
          <p:cNvSpPr/>
          <p:nvPr/>
        </p:nvSpPr>
        <p:spPr>
          <a:xfrm>
            <a:off x="4370832" y="214884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02</a:t>
            </a:r>
          </a:p>
          <a:p>
            <a:pPr>
              <a:defRPr sz="1200" b="1">
                <a:solidFill>
                  <a:srgbClr val="F6F4EF"/>
                </a:solidFill>
                <a:latin typeface="Arial Black"/>
              </a:defRPr>
            </a:pPr>
            <a:r>
              <a:t>PEMILIHAN LAYANAN</a:t>
            </a:r>
          </a:p>
          <a:p>
            <a:pPr>
              <a:defRPr sz="1050">
                <a:solidFill>
                  <a:srgbClr val="AAAAB4"/>
                </a:solidFill>
                <a:latin typeface="Arial"/>
              </a:defRPr>
            </a:pPr>
            <a:r>
              <a:t>Pelanggan memilih jenis layanan (VPS/OTP/Produk Digital) dan menyampaikan kebutuhan ke admin/bot.</a:t>
            </a:r>
          </a:p>
        </p:txBody>
      </p:sp>
      <p:sp>
        <p:nvSpPr>
          <p:cNvPr id="10" name="Rectangle 9"/>
          <p:cNvSpPr/>
          <p:nvPr/>
        </p:nvSpPr>
        <p:spPr>
          <a:xfrm>
            <a:off x="8010144" y="214884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03</a:t>
            </a:r>
          </a:p>
          <a:p>
            <a:pPr>
              <a:defRPr sz="1200" b="1">
                <a:solidFill>
                  <a:srgbClr val="F6F4EF"/>
                </a:solidFill>
                <a:latin typeface="Arial Black"/>
              </a:defRPr>
            </a:pPr>
            <a:r>
              <a:t>VERIFIKASI ADMIN</a:t>
            </a:r>
          </a:p>
          <a:p>
            <a:pPr>
              <a:defRPr sz="1050">
                <a:solidFill>
                  <a:srgbClr val="AAAAB4"/>
                </a:solidFill>
                <a:latin typeface="Arial"/>
              </a:defRPr>
            </a:pPr>
            <a:r>
              <a:t>Admin memeriksa rincian pesanan, kesiapan server/nomor, dan memberikan instruksi pembayaran.</a:t>
            </a:r>
          </a:p>
        </p:txBody>
      </p:sp>
      <p:sp>
        <p:nvSpPr>
          <p:cNvPr id="11" name="Rectangle 10"/>
          <p:cNvSpPr/>
          <p:nvPr/>
        </p:nvSpPr>
        <p:spPr>
          <a:xfrm>
            <a:off x="731520" y="411480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04</a:t>
            </a:r>
          </a:p>
          <a:p>
            <a:pPr>
              <a:defRPr sz="1200" b="1">
                <a:solidFill>
                  <a:srgbClr val="F6F4EF"/>
                </a:solidFill>
                <a:latin typeface="Arial Black"/>
              </a:defRPr>
            </a:pPr>
            <a:r>
              <a:t>PEMBAYARAN</a:t>
            </a:r>
          </a:p>
          <a:p>
            <a:pPr>
              <a:defRPr sz="1050">
                <a:solidFill>
                  <a:srgbClr val="AAAAB4"/>
                </a:solidFill>
                <a:latin typeface="Arial"/>
              </a:defRPr>
            </a:pPr>
            <a:r>
              <a:t>Pelanggan melakukan pembayaran melalui metode yang tersedia dan diverifikasi secara transparan.</a:t>
            </a:r>
          </a:p>
        </p:txBody>
      </p:sp>
      <p:sp>
        <p:nvSpPr>
          <p:cNvPr id="12" name="Rectangle 11"/>
          <p:cNvSpPr/>
          <p:nvPr/>
        </p:nvSpPr>
        <p:spPr>
          <a:xfrm>
            <a:off x="4370832" y="411480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05</a:t>
            </a:r>
          </a:p>
          <a:p>
            <a:pPr>
              <a:defRPr sz="1200" b="1">
                <a:solidFill>
                  <a:srgbClr val="F6F4EF"/>
                </a:solidFill>
                <a:latin typeface="Arial Black"/>
              </a:defRPr>
            </a:pPr>
            <a:r>
              <a:t>PEMROSESAN SISTEM</a:t>
            </a:r>
          </a:p>
          <a:p>
            <a:pPr>
              <a:defRPr sz="1050">
                <a:solidFill>
                  <a:srgbClr val="AAAAB4"/>
                </a:solidFill>
                <a:latin typeface="Arial"/>
              </a:defRPr>
            </a:pPr>
            <a:r>
              <a:t>Pesanan diproses langsung melalui sistem internal server Linux atau penyedia layanan terkait.</a:t>
            </a:r>
          </a:p>
        </p:txBody>
      </p:sp>
      <p:sp>
        <p:nvSpPr>
          <p:cNvPr id="13" name="Rectangle 12"/>
          <p:cNvSpPr/>
          <p:nvPr/>
        </p:nvSpPr>
        <p:spPr>
          <a:xfrm>
            <a:off x="8010144" y="411480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06</a:t>
            </a:r>
          </a:p>
          <a:p>
            <a:pPr>
              <a:defRPr sz="1200" b="1">
                <a:solidFill>
                  <a:srgbClr val="F6F4EF"/>
                </a:solidFill>
                <a:latin typeface="Arial Black"/>
              </a:defRPr>
            </a:pPr>
            <a:r>
              <a:t>SERAH TERIMA &amp; CS</a:t>
            </a:r>
          </a:p>
          <a:p>
            <a:pPr>
              <a:defRPr sz="1050">
                <a:solidFill>
                  <a:srgbClr val="AAAAB4"/>
                </a:solidFill>
                <a:latin typeface="Arial"/>
              </a:defRPr>
            </a:pPr>
            <a:r>
              <a:t>Hasil layanan diserahkan ke pelanggan (kredensial/kode OTP) disertai bantuan jika berkendala.</a:t>
            </a:r>
          </a:p>
        </p:txBody>
      </p:sp>
      <p:sp>
        <p:nvSpPr>
          <p:cNvPr id="14" name="Rectangle 13"/>
          <p:cNvSpPr/>
          <p:nvPr/>
        </p:nvSpPr>
        <p:spPr>
          <a:xfrm>
            <a:off x="731520" y="6016752"/>
            <a:ext cx="10728655" cy="347472"/>
          </a:xfrm>
          <a:prstGeom prst="rect">
            <a:avLst/>
          </a:prstGeom>
          <a:solidFill>
            <a:srgbClr val="1A1A20"/>
          </a:solidFill>
          <a:ln>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lIns="182880" tIns="54864"/>
          <a:lstStyle/>
          <a:p>
            <a:pPr algn="ctr">
              <a:defRPr sz="950">
                <a:solidFill>
                  <a:srgbClr val="F1E05A"/>
                </a:solidFill>
                <a:latin typeface="Arial"/>
              </a:defRPr>
            </a:pPr>
            <a:r>
              <a:t>STATUS OPERASIONAL: Saat ini pesanan ditangani via admin. Integrasi Bot @Sanzstrnokosmumerbot terus disempurnakan untuk otomasi alur transaksi.</a:t>
            </a:r>
          </a:p>
        </p:txBody>
      </p:sp>
      <p:sp>
        <p:nvSpPr>
          <p:cNvPr id="15" name="TextBox 14"/>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snz.my.id                           SLIDE 04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05 // PEMASARAN &amp; PELAYANAN</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STRATEGI PEMASARAN &amp; PELAYANAN PELANGGAN</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42255" cy="3566160"/>
          </a:xfrm>
          <a:prstGeom prst="rect">
            <a:avLst/>
          </a:prstGeom>
          <a:solidFill>
            <a:srgbClr val="1A1A20"/>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400" b="1">
                <a:solidFill>
                  <a:srgbClr val="E60012"/>
                </a:solidFill>
                <a:latin typeface="Arial Black"/>
              </a:defRPr>
            </a:pPr>
            <a:r>
              <a:t>STRATEGI PEMASARAN DIGITAL</a:t>
            </a:r>
          </a:p>
          <a:p>
            <a:pPr>
              <a:spcBef>
                <a:spcPts val="600"/>
              </a:spcBef>
              <a:defRPr sz="1100">
                <a:solidFill>
                  <a:srgbClr val="F6F4EF"/>
                </a:solidFill>
                <a:latin typeface="Arial Black"/>
              </a:defRPr>
            </a:pPr>
            <a:r>
              <a:t>■ Pemanfaatan Kanal Digital</a:t>
            </a:r>
          </a:p>
          <a:p>
            <a:pPr>
              <a:defRPr sz="1000">
                <a:solidFill>
                  <a:srgbClr val="AAAAB4"/>
                </a:solidFill>
                <a:latin typeface="Arial"/>
              </a:defRPr>
            </a:pPr>
            <a:r>
              <a:t>Mengenalkan produk dan layanan melalui kanal media sosial dan komunitas online teknologi/gaming.</a:t>
            </a:r>
          </a:p>
          <a:p>
            <a:pPr>
              <a:spcBef>
                <a:spcPts val="600"/>
              </a:spcBef>
              <a:defRPr sz="1100">
                <a:solidFill>
                  <a:srgbClr val="F6F4EF"/>
                </a:solidFill>
                <a:latin typeface="Arial Black"/>
              </a:defRPr>
            </a:pPr>
            <a:r>
              <a:t>■ Katalog Produk yang Jelas</a:t>
            </a:r>
          </a:p>
          <a:p>
            <a:pPr>
              <a:defRPr sz="1000">
                <a:solidFill>
                  <a:srgbClr val="AAAAB4"/>
                </a:solidFill>
                <a:latin typeface="Arial"/>
              </a:defRPr>
            </a:pPr>
            <a:r>
              <a:t>Menyajikan spesifikasi layanan, batas penggunaan, serta panduan pemesanan tanpa klaim berlebihan.</a:t>
            </a:r>
          </a:p>
          <a:p>
            <a:pPr>
              <a:spcBef>
                <a:spcPts val="600"/>
              </a:spcBef>
              <a:defRPr sz="1100">
                <a:solidFill>
                  <a:srgbClr val="F6F4EF"/>
                </a:solidFill>
                <a:latin typeface="Arial Black"/>
              </a:defRPr>
            </a:pPr>
            <a:r>
              <a:t>■ Optimalisasi Telegram</a:t>
            </a:r>
          </a:p>
          <a:p>
            <a:pPr>
              <a:defRPr sz="1000">
                <a:solidFill>
                  <a:srgbClr val="AAAAB4"/>
                </a:solidFill>
                <a:latin typeface="Arial"/>
              </a:defRPr>
            </a:pPr>
            <a:r>
              <a:t>Menjadikan bot (@Sanzstrnokosmumerbot) dan chat admin (@Sanzxgoku) sebagai pusat interaksi harian yang cepat.</a:t>
            </a:r>
          </a:p>
          <a:p>
            <a:pPr>
              <a:spcBef>
                <a:spcPts val="600"/>
              </a:spcBef>
              <a:defRPr sz="1100">
                <a:solidFill>
                  <a:srgbClr val="F6F4EF"/>
                </a:solidFill>
                <a:latin typeface="Arial Black"/>
              </a:defRPr>
            </a:pPr>
            <a:r>
              <a:t>■ Harga Kompetitif &amp; Realistis</a:t>
            </a:r>
          </a:p>
          <a:p>
            <a:pPr>
              <a:defRPr sz="1000">
                <a:solidFill>
                  <a:srgbClr val="AAAAB4"/>
                </a:solidFill>
                <a:latin typeface="Arial"/>
              </a:defRPr>
            </a:pPr>
            <a:r>
              <a:t>Menetapkan harga rasional sesuai spesifikasi server dan biaya penyedia tanpa perang harga merusak.</a:t>
            </a:r>
          </a:p>
        </p:txBody>
      </p:sp>
      <p:sp>
        <p:nvSpPr>
          <p:cNvPr id="8" name="Rectangle 7"/>
          <p:cNvSpPr/>
          <p:nvPr/>
        </p:nvSpPr>
        <p:spPr>
          <a:xfrm>
            <a:off x="6217920" y="1691640"/>
            <a:ext cx="5242255" cy="3566160"/>
          </a:xfrm>
          <a:prstGeom prst="rect">
            <a:avLst/>
          </a:prstGeom>
          <a:solidFill>
            <a:srgbClr val="1A1A20"/>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400" b="1">
                <a:solidFill>
                  <a:srgbClr val="E60012"/>
                </a:solidFill>
                <a:latin typeface="Arial Black"/>
              </a:defRPr>
            </a:pPr>
            <a:r>
              <a:t>PELAYANAN &amp; KEPERCAYAAN PELANGGAN</a:t>
            </a:r>
          </a:p>
          <a:p>
            <a:pPr>
              <a:spcBef>
                <a:spcPts val="600"/>
              </a:spcBef>
              <a:defRPr sz="1100">
                <a:solidFill>
                  <a:srgbClr val="F6F4EF"/>
                </a:solidFill>
                <a:latin typeface="Arial Black"/>
              </a:defRPr>
            </a:pPr>
            <a:r>
              <a:t>■ Komunikasi Responsif</a:t>
            </a:r>
          </a:p>
          <a:p>
            <a:pPr>
              <a:defRPr sz="1000">
                <a:solidFill>
                  <a:srgbClr val="AAAAB4"/>
                </a:solidFill>
                <a:latin typeface="Arial"/>
              </a:defRPr>
            </a:pPr>
            <a:r>
              <a:t>Admin merespon pesan, pertanyaan spesifikasi, dan pesanan secara cepat serta lugas.</a:t>
            </a:r>
          </a:p>
          <a:p>
            <a:pPr>
              <a:spcBef>
                <a:spcPts val="600"/>
              </a:spcBef>
              <a:defRPr sz="1100">
                <a:solidFill>
                  <a:srgbClr val="F6F4EF"/>
                </a:solidFill>
                <a:latin typeface="Arial Black"/>
              </a:defRPr>
            </a:pPr>
            <a:r>
              <a:t>■ Bantuan &amp; Troubleshooting</a:t>
            </a:r>
          </a:p>
          <a:p>
            <a:pPr>
              <a:defRPr sz="1000">
                <a:solidFill>
                  <a:srgbClr val="AAAAB4"/>
                </a:solidFill>
                <a:latin typeface="Arial"/>
              </a:defRPr>
            </a:pPr>
            <a:r>
              <a:t>Membantu pelanggan jika menemui kendala instalasi panel atau kendala kode OTP yang belum masuk.</a:t>
            </a:r>
          </a:p>
          <a:p>
            <a:pPr>
              <a:spcBef>
                <a:spcPts val="600"/>
              </a:spcBef>
              <a:defRPr sz="1100">
                <a:solidFill>
                  <a:srgbClr val="F6F4EF"/>
                </a:solidFill>
                <a:latin typeface="Arial Black"/>
              </a:defRPr>
            </a:pPr>
            <a:r>
              <a:t>■ Transparansi Stok &amp; Server</a:t>
            </a:r>
          </a:p>
          <a:p>
            <a:pPr>
              <a:defRPr sz="1000">
                <a:solidFill>
                  <a:srgbClr val="AAAAB4"/>
                </a:solidFill>
                <a:latin typeface="Arial"/>
              </a:defRPr>
            </a:pPr>
            <a:r>
              <a:t>Memberitahukan ketersediaan kapasitas server apa adanya demi menjaga kepuasan pelanggan.</a:t>
            </a:r>
          </a:p>
          <a:p>
            <a:pPr>
              <a:spcBef>
                <a:spcPts val="600"/>
              </a:spcBef>
              <a:defRPr sz="1100">
                <a:solidFill>
                  <a:srgbClr val="F6F4EF"/>
                </a:solidFill>
                <a:latin typeface="Arial Black"/>
              </a:defRPr>
            </a:pPr>
            <a:r>
              <a:t>■ Membangun Loyalitas</a:t>
            </a:r>
          </a:p>
          <a:p>
            <a:pPr>
              <a:defRPr sz="1000">
                <a:solidFill>
                  <a:srgbClr val="AAAAB4"/>
                </a:solidFill>
                <a:latin typeface="Arial"/>
              </a:defRPr>
            </a:pPr>
            <a:r>
              <a:t>Pelayanan yang jujur dan tuntas menjadi fondasi repeat order tanpa perlu manipulasi testimoni.</a:t>
            </a:r>
          </a:p>
        </p:txBody>
      </p:sp>
      <p:sp>
        <p:nvSpPr>
          <p:cNvPr id="9" name="Rectangle 8"/>
          <p:cNvSpPr/>
          <p:nvPr/>
        </p:nvSpPr>
        <p:spPr>
          <a:xfrm>
            <a:off x="731520" y="5440680"/>
            <a:ext cx="10728655" cy="777240"/>
          </a:xfrm>
          <a:prstGeom prst="rect">
            <a:avLst/>
          </a:prstGeom>
          <a:solidFill>
            <a:srgbClr val="1A1A20"/>
          </a:solidFill>
          <a:ln w="19050">
            <a:solidFill>
              <a:srgbClr val="F1E05A"/>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100">
                <a:solidFill>
                  <a:srgbClr val="F1E05A"/>
                </a:solidFill>
                <a:latin typeface="Arial Black"/>
              </a:defRPr>
            </a:pPr>
            <a:r>
              <a:t>KANAL RESMI KOMUNIKASI &amp; TRANSAKSI:</a:t>
            </a:r>
          </a:p>
          <a:p>
            <a:pPr>
              <a:defRPr sz="1200" b="1">
                <a:solidFill>
                  <a:srgbClr val="F6F4EF"/>
                </a:solidFill>
                <a:latin typeface="Arial Black"/>
              </a:defRPr>
            </a:pPr>
            <a:r>
              <a:t>Bot Telegram: @Sanzstrnokosmumerbot  |  Admin: @Sanzxgoku  |  Instagram: @sanzshun  |  Domain: snz.my.id</a:t>
            </a:r>
          </a:p>
        </p:txBody>
      </p:sp>
      <p:sp>
        <p:nvSpPr>
          <p:cNvPr id="10" name="TextBox 9"/>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snz.my.id                           SLIDE 05 / 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06 // STACK &amp; INFRASTRUKTUR</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TEKNOLOGI PENDUKUNG BISNIS</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42255" cy="4526280"/>
          </a:xfrm>
          <a:prstGeom prst="rect">
            <a:avLst/>
          </a:prstGeom>
          <a:solidFill>
            <a:srgbClr val="1A1A20"/>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E60012"/>
                </a:solidFill>
                <a:latin typeface="Arial Black"/>
              </a:defRPr>
            </a:pPr>
            <a:r>
              <a:t>TEKNOLOGI AKTIF DIGUNAKAN</a:t>
            </a:r>
          </a:p>
          <a:p>
            <a:pPr>
              <a:spcBef>
                <a:spcPts val="600"/>
              </a:spcBef>
              <a:defRPr sz="1100">
                <a:solidFill>
                  <a:srgbClr val="F6F4EF"/>
                </a:solidFill>
                <a:latin typeface="Arial Black"/>
              </a:defRPr>
            </a:pPr>
            <a:r>
              <a:t>■ Linux VPS (Ubuntu / Debian)</a:t>
            </a:r>
          </a:p>
          <a:p>
            <a:pPr>
              <a:defRPr sz="950">
                <a:solidFill>
                  <a:srgbClr val="AAAAB4"/>
                </a:solidFill>
                <a:latin typeface="Arial"/>
              </a:defRPr>
            </a:pPr>
            <a:r>
              <a:t>Infrastruktur dasar server untuk hosting layanan, menjalankan script, dan pengelolaan port jaringan.</a:t>
            </a:r>
          </a:p>
          <a:p>
            <a:pPr>
              <a:spcBef>
                <a:spcPts val="600"/>
              </a:spcBef>
              <a:defRPr sz="1100">
                <a:solidFill>
                  <a:srgbClr val="F6F4EF"/>
                </a:solidFill>
                <a:latin typeface="Arial Black"/>
              </a:defRPr>
            </a:pPr>
            <a:r>
              <a:t>■ JavaScript &amp; Node.js</a:t>
            </a:r>
          </a:p>
          <a:p>
            <a:pPr>
              <a:defRPr sz="950">
                <a:solidFill>
                  <a:srgbClr val="AAAAB4"/>
                </a:solidFill>
                <a:latin typeface="Arial"/>
              </a:defRPr>
            </a:pPr>
            <a:r>
              <a:t>Bahasa pemrograman dan runtime utama dalam membangun logika bot, skrip otomatisasi, serta komunikasi API.</a:t>
            </a:r>
          </a:p>
          <a:p>
            <a:pPr>
              <a:spcBef>
                <a:spcPts val="600"/>
              </a:spcBef>
              <a:defRPr sz="1100">
                <a:solidFill>
                  <a:srgbClr val="F6F4EF"/>
                </a:solidFill>
                <a:latin typeface="Arial Black"/>
              </a:defRPr>
            </a:pPr>
            <a:r>
              <a:t>■ Telegram Bot API</a:t>
            </a:r>
          </a:p>
          <a:p>
            <a:pPr>
              <a:defRPr sz="950">
                <a:solidFill>
                  <a:srgbClr val="AAAAB4"/>
                </a:solidFill>
                <a:latin typeface="Arial"/>
              </a:defRPr>
            </a:pPr>
            <a:r>
              <a:t>Protokol penghubung untuk interaksi chat bot @Sanzstrnokosmumerbot, menu tombol, dan notifikasi.</a:t>
            </a:r>
          </a:p>
          <a:p>
            <a:pPr>
              <a:spcBef>
                <a:spcPts val="600"/>
              </a:spcBef>
              <a:defRPr sz="1100">
                <a:solidFill>
                  <a:srgbClr val="F6F4EF"/>
                </a:solidFill>
                <a:latin typeface="Arial Black"/>
              </a:defRPr>
            </a:pPr>
            <a:r>
              <a:t>■ Pterodactyl Panel</a:t>
            </a:r>
          </a:p>
          <a:p>
            <a:pPr>
              <a:defRPr sz="950">
                <a:solidFill>
                  <a:srgbClr val="AAAAB4"/>
                </a:solidFill>
                <a:latin typeface="Arial"/>
              </a:defRPr>
            </a:pPr>
            <a:r>
              <a:t>Sistem panel web berbasis container Docker untuk mempermudah kontrol server game dan bot secara mandiri.</a:t>
            </a:r>
          </a:p>
          <a:p>
            <a:pPr>
              <a:spcBef>
                <a:spcPts val="600"/>
              </a:spcBef>
              <a:defRPr sz="1100">
                <a:solidFill>
                  <a:srgbClr val="F6F4EF"/>
                </a:solidFill>
                <a:latin typeface="Arial Black"/>
              </a:defRPr>
            </a:pPr>
            <a:r>
              <a:t>■ Cloudflare DNS &amp; Proxy</a:t>
            </a:r>
          </a:p>
          <a:p>
            <a:pPr>
              <a:defRPr sz="950">
                <a:solidFill>
                  <a:srgbClr val="AAAAB4"/>
                </a:solidFill>
                <a:latin typeface="Arial"/>
              </a:defRPr>
            </a:pPr>
            <a:r>
              <a:t>Manajemen domain snz.my.id, proteksi terhadap serangan DDoS, serta pengaturan routing subdomain.</a:t>
            </a:r>
          </a:p>
        </p:txBody>
      </p:sp>
      <p:sp>
        <p:nvSpPr>
          <p:cNvPr id="8" name="Rectangle 7"/>
          <p:cNvSpPr/>
          <p:nvPr/>
        </p:nvSpPr>
        <p:spPr>
          <a:xfrm>
            <a:off x="6217920" y="1691640"/>
            <a:ext cx="5242255" cy="4526280"/>
          </a:xfrm>
          <a:prstGeom prst="rect">
            <a:avLst/>
          </a:prstGeom>
          <a:solidFill>
            <a:srgbClr val="1A1A20"/>
          </a:solidFill>
          <a:ln w="19050">
            <a:solidFill>
              <a:srgbClr val="F1E05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F1E05A"/>
                </a:solidFill>
                <a:latin typeface="Arial Black"/>
              </a:defRPr>
            </a:pPr>
            <a:r>
              <a:t>INTEGRASI API &amp; PROYEK PENGEMBANGAN</a:t>
            </a:r>
          </a:p>
          <a:p>
            <a:pPr>
              <a:spcBef>
                <a:spcPts val="600"/>
              </a:spcBef>
              <a:defRPr sz="1100">
                <a:solidFill>
                  <a:srgbClr val="F6F4EF"/>
                </a:solidFill>
                <a:latin typeface="Arial Black"/>
              </a:defRPr>
            </a:pPr>
            <a:r>
              <a:t>◆ Integrasi API Pihak Ketiga (RumahOTP, FayuPedia)</a:t>
            </a:r>
          </a:p>
          <a:p>
            <a:pPr>
              <a:defRPr sz="950">
                <a:solidFill>
                  <a:srgbClr val="AAAAB4"/>
                </a:solidFill>
                <a:latin typeface="Arial"/>
              </a:defRPr>
            </a:pPr>
            <a:r>
              <a:t>Rencana sinkronisasi stok dan eksekusi nomor OTP serta produk digital secara otomatis melalui REST API.</a:t>
            </a:r>
          </a:p>
          <a:p>
            <a:pPr>
              <a:spcBef>
                <a:spcPts val="600"/>
              </a:spcBef>
              <a:defRPr sz="1100">
                <a:solidFill>
                  <a:srgbClr val="F6F4EF"/>
                </a:solidFill>
                <a:latin typeface="Arial Black"/>
              </a:defRPr>
            </a:pPr>
            <a:r>
              <a:t>◆ Pakasir (Gateway Pembayaran QRIS)</a:t>
            </a:r>
          </a:p>
          <a:p>
            <a:pPr>
              <a:defRPr sz="950">
                <a:solidFill>
                  <a:srgbClr val="AAAAB4"/>
                </a:solidFill>
                <a:latin typeface="Arial"/>
              </a:defRPr>
            </a:pPr>
            <a:r>
              <a:t>Perencanaan sistem verifikasi pembayaran QRIS instan untuk bot Telegram dan web store.</a:t>
            </a:r>
          </a:p>
          <a:p>
            <a:pPr>
              <a:spcBef>
                <a:spcPts val="600"/>
              </a:spcBef>
              <a:defRPr sz="1100">
                <a:solidFill>
                  <a:srgbClr val="F6F4EF"/>
                </a:solidFill>
                <a:latin typeface="Arial Black"/>
              </a:defRPr>
            </a:pPr>
            <a:r>
              <a:t>◆ Proyek SOTP (sxgotp)</a:t>
            </a:r>
          </a:p>
          <a:p>
            <a:pPr>
              <a:defRPr sz="950">
                <a:solidFill>
                  <a:srgbClr val="AAAAB4"/>
                </a:solidFill>
                <a:latin typeface="Arial"/>
              </a:defRPr>
            </a:pPr>
            <a:r>
              <a:t>Pengembangan terpisah website layanan OTP modern menggunakan Next.js, React, Tailwind CSS, Vercel, dan Supabase.</a:t>
            </a:r>
          </a:p>
          <a:p>
            <a:pPr>
              <a:spcBef>
                <a:spcPts val="600"/>
              </a:spcBef>
              <a:defRPr sz="1100">
                <a:solidFill>
                  <a:srgbClr val="F6F4EF"/>
                </a:solidFill>
                <a:latin typeface="Arial Black"/>
              </a:defRPr>
            </a:pPr>
            <a:r>
              <a:t>◆ Manfaat Utama Teknologi</a:t>
            </a:r>
          </a:p>
          <a:p>
            <a:pPr>
              <a:defRPr sz="950">
                <a:solidFill>
                  <a:srgbClr val="AAAAB4"/>
                </a:solidFill>
                <a:latin typeface="Arial"/>
              </a:defRPr>
            </a:pPr>
            <a:r>
              <a:t>• Efisiensi Operasional: Mengurangi pekerjaan admin berulang.</a:t>
            </a:r>
            <a:br/>
            <a:r>
              <a:t>• Kecepatan Layanan: Transaksi diproses dalam hitungan detik.</a:t>
            </a:r>
            <a:br/>
            <a:r>
              <a:t>• Skalabilitas: Kapasitas sistem siap menangani lonjakan pesanan.</a:t>
            </a:r>
          </a:p>
        </p:txBody>
      </p:sp>
      <p:sp>
        <p:nvSpPr>
          <p:cNvPr id="9" name="TextBox 8"/>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snz.my.id                           SLIDE 06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07 // ROADMAP BISNIS</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VISI DAN RENCANA PENGEMBANGAN</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10789920" cy="457200"/>
          </a:xfrm>
          <a:prstGeom prst="rect">
            <a:avLst/>
          </a:prstGeom>
          <a:noFill/>
        </p:spPr>
        <p:txBody>
          <a:bodyPr wrap="none">
            <a:spAutoFit/>
          </a:bodyPr>
          <a:lstStyle/>
          <a:p>
            <a:pPr>
              <a:defRPr sz="1200">
                <a:solidFill>
                  <a:srgbClr val="AAAAB4"/>
                </a:solidFill>
                <a:latin typeface="Arial"/>
              </a:defRPr>
            </a:pPr>
            <a:r>
              <a:t>Rencana Strategis Masa Depan — Disajikan sebagai visi pengembangan jangka pendek dan menengah.</a:t>
            </a:r>
          </a:p>
        </p:txBody>
      </p:sp>
      <p:sp>
        <p:nvSpPr>
          <p:cNvPr id="8" name="Rectangle 7"/>
          <p:cNvSpPr/>
          <p:nvPr/>
        </p:nvSpPr>
        <p:spPr>
          <a:xfrm>
            <a:off x="731520" y="2148840"/>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01. EKSPANSI LAYANAN DIGITAL</a:t>
            </a:r>
          </a:p>
          <a:p>
            <a:pPr>
              <a:defRPr sz="1000">
                <a:solidFill>
                  <a:srgbClr val="F6F4EF"/>
                </a:solidFill>
                <a:latin typeface="Arial"/>
              </a:defRPr>
            </a:pPr>
            <a:r>
              <a:t>Memperluas katalog produk digital, menambah varian spesifikasi server VPS, dan menyesuaikan layanan dengan tren kebutuhan pasar.</a:t>
            </a:r>
          </a:p>
        </p:txBody>
      </p:sp>
      <p:sp>
        <p:nvSpPr>
          <p:cNvPr id="9" name="Rectangle 8"/>
          <p:cNvSpPr/>
          <p:nvPr/>
        </p:nvSpPr>
        <p:spPr>
          <a:xfrm>
            <a:off x="6217920" y="2148840"/>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02. PENINGKATAN MUTU LAYANAN</a:t>
            </a:r>
          </a:p>
          <a:p>
            <a:pPr>
              <a:defRPr sz="1000">
                <a:solidFill>
                  <a:srgbClr val="F6F4EF"/>
                </a:solidFill>
                <a:latin typeface="Arial"/>
              </a:defRPr>
            </a:pPr>
            <a:r>
              <a:t>Menjaga kestabilan uptime server, kecepatan delivery pesanan, serta evaluasi kepuasan pelanggan secara berkala.</a:t>
            </a:r>
          </a:p>
        </p:txBody>
      </p:sp>
      <p:sp>
        <p:nvSpPr>
          <p:cNvPr id="10" name="Rectangle 9"/>
          <p:cNvSpPr/>
          <p:nvPr/>
        </p:nvSpPr>
        <p:spPr>
          <a:xfrm>
            <a:off x="731520" y="3502152"/>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03. OTOMASI BOT (@Sanzstrnokosmumerbot)</a:t>
            </a:r>
          </a:p>
          <a:p>
            <a:pPr>
              <a:defRPr sz="1000">
                <a:solidFill>
                  <a:srgbClr val="F6F4EF"/>
                </a:solidFill>
                <a:latin typeface="Arial"/>
              </a:defRPr>
            </a:pPr>
            <a:r>
              <a:t>Menyelesaikan integrasi pemesanan mandiri, verifikasi QRIS otomatis, dan penyerahan kredensial/layanan langsung via bot.</a:t>
            </a:r>
          </a:p>
        </p:txBody>
      </p:sp>
      <p:sp>
        <p:nvSpPr>
          <p:cNvPr id="11" name="Rectangle 10"/>
          <p:cNvSpPr/>
          <p:nvPr/>
        </p:nvSpPr>
        <p:spPr>
          <a:xfrm>
            <a:off x="6217920" y="3502152"/>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04. SISTEM PENCATATAN &amp; PEMBUKUAN</a:t>
            </a:r>
          </a:p>
          <a:p>
            <a:pPr>
              <a:defRPr sz="1000">
                <a:solidFill>
                  <a:srgbClr val="F6F4EF"/>
                </a:solidFill>
                <a:latin typeface="Arial"/>
              </a:defRPr>
            </a:pPr>
            <a:r>
              <a:t>Menerapkan pencatatan transaksi terstruktur untuk memantau performa layanan, inventaris stok server, dan arus keuangan rapi.</a:t>
            </a:r>
          </a:p>
        </p:txBody>
      </p:sp>
      <p:sp>
        <p:nvSpPr>
          <p:cNvPr id="12" name="Rectangle 11"/>
          <p:cNvSpPr/>
          <p:nvPr/>
        </p:nvSpPr>
        <p:spPr>
          <a:xfrm>
            <a:off x="731520" y="4855464"/>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05. KEAMANAN &amp; KEANDALAN SISTEM</a:t>
            </a:r>
          </a:p>
          <a:p>
            <a:pPr>
              <a:defRPr sz="1000">
                <a:solidFill>
                  <a:srgbClr val="F6F4EF"/>
                </a:solidFill>
                <a:latin typeface="Arial"/>
              </a:defRPr>
            </a:pPr>
            <a:r>
              <a:t>Memperkuat proteksi firewall server Linux, manajemen akses API yang aman, serta cadangan data (backup) rutin.</a:t>
            </a:r>
          </a:p>
        </p:txBody>
      </p:sp>
      <p:sp>
        <p:nvSpPr>
          <p:cNvPr id="13" name="Rectangle 12"/>
          <p:cNvSpPr/>
          <p:nvPr/>
        </p:nvSpPr>
        <p:spPr>
          <a:xfrm>
            <a:off x="6217920" y="4855464"/>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06. EKOSISTEM BERKELANJUTAN</a:t>
            </a:r>
          </a:p>
          <a:p>
            <a:pPr>
              <a:defRPr sz="1000">
                <a:solidFill>
                  <a:srgbClr val="F6F4EF"/>
                </a:solidFill>
                <a:latin typeface="Arial"/>
              </a:defRPr>
            </a:pPr>
            <a:r>
              <a:t>Mengintegrasikan website (snz.my.id), bot Telegram, dan panel server menjadi satu ekosistem bisnis digital yang stabil.</a:t>
            </a:r>
          </a:p>
        </p:txBody>
      </p:sp>
      <p:sp>
        <p:nvSpPr>
          <p:cNvPr id="14" name="TextBox 13"/>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snz.my.id                           SLIDE 07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08 // PENUTUP</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KESIMPULAN BISNIS</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728655" cy="2377440"/>
          </a:xfrm>
          <a:prstGeom prst="rect">
            <a:avLst/>
          </a:prstGeom>
          <a:solidFill>
            <a:srgbClr val="1A1A20"/>
          </a:solidFill>
          <a:ln w="254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defRPr sz="1200">
                <a:solidFill>
                  <a:srgbClr val="F1E05A"/>
                </a:solidFill>
                <a:latin typeface="Arial Black"/>
              </a:defRPr>
            </a:pPr>
            <a:r>
              <a:t>KESIMPULAN EKSEKUTIF</a:t>
            </a:r>
          </a:p>
          <a:p>
            <a:pPr>
              <a:spcBef>
                <a:spcPts val="800"/>
              </a:spcBef>
              <a:defRPr sz="1350">
                <a:solidFill>
                  <a:srgbClr val="F6F4EF"/>
                </a:solidFill>
                <a:latin typeface="Arial"/>
              </a:defRPr>
            </a:pPr>
            <a:r>
              <a:t>SANZ GOKU merupakan usaha digital yang berfokus pada produk dan layanan teknologi. Melalui pengembangan layanan server, produk digital, dan otomatisasi menggunakan bot Telegram (@Sanzstrnokosmumerbot), bisnis ini diarahkan untuk memberikan pelayanan yang praktis, transparan, dan terus berkembang sesuai kebutuhan pelanggan.</a:t>
            </a:r>
          </a:p>
          <a:p>
            <a:pPr>
              <a:spcBef>
                <a:spcPts val="1200"/>
              </a:spcBef>
              <a:defRPr sz="1600" b="1">
                <a:solidFill>
                  <a:srgbClr val="F1E05A"/>
                </a:solidFill>
                <a:latin typeface="Arial Black"/>
              </a:defRPr>
            </a:pPr>
            <a:r>
              <a:t>“ SANZ GOKU — Satu Bot, Banyak Solusi. ”</a:t>
            </a:r>
          </a:p>
        </p:txBody>
      </p:sp>
      <p:sp>
        <p:nvSpPr>
          <p:cNvPr id="8" name="Rectangle 7"/>
          <p:cNvSpPr/>
          <p:nvPr/>
        </p:nvSpPr>
        <p:spPr>
          <a:xfrm>
            <a:off x="731520" y="4297680"/>
            <a:ext cx="4114800" cy="192024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411480"/>
          <a:lstStyle/>
          <a:p>
            <a:pPr algn="ctr">
              <a:defRPr sz="2400" b="1">
                <a:solidFill>
                  <a:srgbClr val="F6F4EF"/>
                </a:solidFill>
                <a:latin typeface="Arial Black"/>
              </a:defRPr>
            </a:pPr>
            <a:r>
              <a:t>TERIMA KASIH</a:t>
            </a:r>
          </a:p>
          <a:p>
            <a:pPr>
              <a:spcBef>
                <a:spcPts val="600"/>
              </a:spcBef>
              <a:defRPr sz="1200">
                <a:solidFill>
                  <a:srgbClr val="F6F4EF"/>
                </a:solidFill>
                <a:latin typeface="Arial"/>
              </a:defRPr>
            </a:pPr>
            <a:r>
              <a:t>Presentasi Portofolio Bisnis Selesai.</a:t>
            </a:r>
          </a:p>
        </p:txBody>
      </p:sp>
      <p:sp>
        <p:nvSpPr>
          <p:cNvPr id="9" name="Rectangle 8"/>
          <p:cNvSpPr/>
          <p:nvPr/>
        </p:nvSpPr>
        <p:spPr>
          <a:xfrm>
            <a:off x="5029200" y="4297680"/>
            <a:ext cx="6430975" cy="19202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200" b="1">
                <a:solidFill>
                  <a:srgbClr val="F1E05A"/>
                </a:solidFill>
                <a:latin typeface="Arial Black"/>
              </a:defRPr>
            </a:pPr>
            <a:r>
              <a:t>INFORMASI KONTAK &amp; IDENTITAS RESMI</a:t>
            </a:r>
          </a:p>
          <a:p>
            <a:pPr>
              <a:spcBef>
                <a:spcPts val="200"/>
              </a:spcBef>
              <a:defRPr sz="1050">
                <a:solidFill>
                  <a:srgbClr val="F6F4EF"/>
                </a:solidFill>
                <a:latin typeface="Arial"/>
              </a:defRPr>
            </a:pPr>
            <a:r>
              <a:t>• Nama Pemilik: Muhammad Sandika Akbar (Sanz)</a:t>
            </a:r>
          </a:p>
          <a:p>
            <a:pPr>
              <a:spcBef>
                <a:spcPts val="200"/>
              </a:spcBef>
              <a:defRPr sz="1050">
                <a:solidFill>
                  <a:srgbClr val="F6F4EF"/>
                </a:solidFill>
                <a:latin typeface="Arial"/>
              </a:defRPr>
            </a:pPr>
            <a:r>
              <a:t>• Bot Telegram: @Sanzstrnokosmumerbot  (t.me/Sanzstrnokosmumerbot)</a:t>
            </a:r>
          </a:p>
          <a:p>
            <a:pPr>
              <a:spcBef>
                <a:spcPts val="200"/>
              </a:spcBef>
              <a:defRPr sz="1050">
                <a:solidFill>
                  <a:srgbClr val="F6F4EF"/>
                </a:solidFill>
                <a:latin typeface="Arial"/>
              </a:defRPr>
            </a:pPr>
            <a:r>
              <a:t>• Telegram Admin: @Sanzxgoku  (t.me/Sanzxgoku)</a:t>
            </a:r>
          </a:p>
          <a:p>
            <a:pPr>
              <a:spcBef>
                <a:spcPts val="200"/>
              </a:spcBef>
              <a:defRPr sz="1050">
                <a:solidFill>
                  <a:srgbClr val="F6F4EF"/>
                </a:solidFill>
                <a:latin typeface="Arial"/>
              </a:defRPr>
            </a:pPr>
            <a:r>
              <a:t>• Instagram: @sanzshun  (instagram.com/sanzshun)</a:t>
            </a:r>
          </a:p>
          <a:p>
            <a:pPr>
              <a:spcBef>
                <a:spcPts val="200"/>
              </a:spcBef>
              <a:defRPr sz="1050">
                <a:solidFill>
                  <a:srgbClr val="F6F4EF"/>
                </a:solidFill>
                <a:latin typeface="Arial"/>
              </a:defRPr>
            </a:pPr>
            <a:r>
              <a:t>• Domain Bisnis: snz.my.id</a:t>
            </a:r>
          </a:p>
        </p:txBody>
      </p:sp>
      <p:sp>
        <p:nvSpPr>
          <p:cNvPr id="10" name="TextBox 9"/>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snz.my.id                           SLIDE 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